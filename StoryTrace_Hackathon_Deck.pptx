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86200" y="822960"/>
            <a:ext cx="1371600" cy="1371600"/>
          </a:xfrm>
          <a:prstGeom prst="rect">
            <a:avLst/>
          </a:prstGeom>
          <a:solidFill>
            <a:srgbClr val="001A0D"/>
          </a:solidFill>
          <a:ln w="25400">
            <a:solidFill>
              <a:srgbClr val="00E8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0" y="1005840"/>
            <a:ext cx="201168" cy="201168"/>
          </a:xfrm>
          <a:prstGeom prst="ellipse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434840" y="1353312"/>
            <a:ext cx="201168" cy="201168"/>
          </a:xfrm>
          <a:prstGeom prst="ellipse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0" y="1005840"/>
            <a:ext cx="201168" cy="201168"/>
          </a:xfrm>
          <a:prstGeom prst="ellipse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15384" y="1106424"/>
            <a:ext cx="219456" cy="246888"/>
          </a:xfrm>
          <a:prstGeom prst="line">
            <a:avLst/>
          </a:prstGeom>
          <a:noFill/>
          <a:ln w="19050">
            <a:solidFill>
              <a:srgbClr val="00E8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34840" y="1353312"/>
            <a:ext cx="320040" cy="-246888"/>
          </a:xfrm>
          <a:prstGeom prst="line">
            <a:avLst/>
          </a:prstGeom>
          <a:noFill/>
          <a:ln w="19050">
            <a:solidFill>
              <a:srgbClr val="00E8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233172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StoryTrace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0" y="31546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spc="900" kern="0" dirty="0">
                <a:solidFill>
                  <a:srgbClr val="00E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for News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71600" y="363931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how news stories mutate, drift, and branch across outlets and countries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83280" y="4297680"/>
            <a:ext cx="2377440" cy="347472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42976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1A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2025  |  Multi-Agent AI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E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News narratives drift—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but no one tracks it.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20040" y="182880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Reuters story hits 15 outlets. By the time it reaches readers, facts are dropped, tone shifts, and context vanishes — with zero accountability or traceability.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577840" y="365760"/>
            <a:ext cx="3200400" cy="1417320"/>
          </a:xfrm>
          <a:prstGeom prst="rect">
            <a:avLst/>
          </a:prstGeom>
          <a:solidFill>
            <a:srgbClr val="161D2C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0" y="457200"/>
            <a:ext cx="3017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E8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72%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669280" y="1078992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online misinformation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to drift,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fabrication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577840" y="1920240"/>
            <a:ext cx="3200400" cy="1417320"/>
          </a:xfrm>
          <a:prstGeom prst="rect">
            <a:avLst/>
          </a:prstGeom>
          <a:solidFill>
            <a:srgbClr val="161D2C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69280" y="2011680"/>
            <a:ext cx="3017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E8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in 5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5669280" y="2633472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stories mutate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significantly within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hours of publishing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577840" y="3474720"/>
            <a:ext cx="3200400" cy="1417320"/>
          </a:xfrm>
          <a:prstGeom prst="rect">
            <a:avLst/>
          </a:prstGeom>
          <a:solidFill>
            <a:srgbClr val="161D2C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69280" y="3566160"/>
            <a:ext cx="3017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E8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ZERO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5669280" y="4187952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track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evolution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outlets over time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00E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StoryTrace — Git for News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170432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URL or speak a topic. StoryTrace finds the original wire story, crawls 15 outlets, scores narrative drift 0-100, and visualizes the full mutation chain as a Git-style tree.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874520"/>
            <a:ext cx="2715768" cy="2926080"/>
          </a:xfrm>
          <a:prstGeom prst="rect">
            <a:avLst/>
          </a:prstGeom>
          <a:solidFill>
            <a:srgbClr val="161D2C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874520"/>
            <a:ext cx="2715768" cy="54864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07008" y="2011680"/>
            <a:ext cx="749808" cy="749808"/>
          </a:xfrm>
          <a:prstGeom prst="ellipse">
            <a:avLst/>
          </a:prstGeom>
          <a:solidFill>
            <a:srgbClr val="001A0D"/>
          </a:solidFill>
          <a:ln w="25400">
            <a:solidFill>
              <a:srgbClr val="00E8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07008" y="201168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E8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20040" y="2852928"/>
            <a:ext cx="2532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Find the Root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93192" y="3291840"/>
            <a:ext cx="2395728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GDELT + NewsAPI locate the earliest wire story (AP/Reuters) — the "root commit" of the narrative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136392" y="1874520"/>
            <a:ext cx="2715768" cy="2926080"/>
          </a:xfrm>
          <a:prstGeom prst="rect">
            <a:avLst/>
          </a:prstGeom>
          <a:solidFill>
            <a:srgbClr val="161D2C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36392" y="1874520"/>
            <a:ext cx="2715768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0" y="2011680"/>
            <a:ext cx="749808" cy="749808"/>
          </a:xfrm>
          <a:prstGeom prst="ellipse">
            <a:avLst/>
          </a:prstGeom>
          <a:solidFill>
            <a:srgbClr val="001A0D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0" y="201168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227832" y="2852928"/>
            <a:ext cx="2532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Track the Drift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00984" y="3291840"/>
            <a:ext cx="2395728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RSS feeds crawled and scored 0-100 for narrative mutation vs. the original wire story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44184" y="1874520"/>
            <a:ext cx="2715768" cy="2926080"/>
          </a:xfrm>
          <a:prstGeom prst="rect">
            <a:avLst/>
          </a:prstGeom>
          <a:solidFill>
            <a:srgbClr val="161D2C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44184" y="1874520"/>
            <a:ext cx="2715768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22592" y="2011680"/>
            <a:ext cx="749808" cy="749808"/>
          </a:xfrm>
          <a:prstGeom prst="ellipse">
            <a:avLst/>
          </a:prstGeom>
          <a:solidFill>
            <a:srgbClr val="001A0D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22592" y="201168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135624" y="2852928"/>
            <a:ext cx="2532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Visualize the Chain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08776" y="3291840"/>
            <a:ext cx="2395728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D3.js Git tree: root to country branches to outlet leaves, with clickable diff panels showing facts added/dropped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00E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URL to Insight in Seconds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1051560" cy="1051560"/>
          </a:xfrm>
          <a:prstGeom prst="ellipse">
            <a:avLst/>
          </a:prstGeom>
          <a:solidFill>
            <a:srgbClr val="00E87A"/>
          </a:solidFill>
          <a:ln w="25400">
            <a:solidFill>
              <a:srgbClr val="00E8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2588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487168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798064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or Voice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691640" y="1851660"/>
            <a:ext cx="548640" cy="0"/>
          </a:xfrm>
          <a:prstGeom prst="line">
            <a:avLst/>
          </a:prstGeom>
          <a:noFill/>
          <a:ln w="22860">
            <a:solidFill>
              <a:srgbClr val="00E8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40280" y="1325880"/>
            <a:ext cx="1051560" cy="1051560"/>
          </a:xfrm>
          <a:prstGeom prst="ellipse">
            <a:avLst/>
          </a:prstGeom>
          <a:solidFill>
            <a:srgbClr val="161D2C"/>
          </a:solidFill>
          <a:ln w="25400">
            <a:solidFill>
              <a:srgbClr val="00E8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40280" y="132588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E8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057400" y="2487168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Story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57400" y="2798064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GDELT / NewsAPI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1851660"/>
            <a:ext cx="548640" cy="0"/>
          </a:xfrm>
          <a:prstGeom prst="line">
            <a:avLst/>
          </a:prstGeom>
          <a:noFill/>
          <a:ln w="22860">
            <a:solidFill>
              <a:srgbClr val="00E8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0" y="1325880"/>
            <a:ext cx="1051560" cy="1051560"/>
          </a:xfrm>
          <a:prstGeom prst="ellipse">
            <a:avLst/>
          </a:prstGeom>
          <a:solidFill>
            <a:srgbClr val="161D2C"/>
          </a:solidFill>
          <a:ln w="25400">
            <a:solidFill>
              <a:srgbClr val="00E8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0" y="132588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E8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657600" y="2487168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Crawl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0" y="2798064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RSS Outlets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92040" y="1851660"/>
            <a:ext cx="548640" cy="0"/>
          </a:xfrm>
          <a:prstGeom prst="line">
            <a:avLst/>
          </a:prstGeom>
          <a:noFill/>
          <a:ln w="22860">
            <a:solidFill>
              <a:srgbClr val="00E87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40680" y="1325880"/>
            <a:ext cx="1051560" cy="1051560"/>
          </a:xfrm>
          <a:prstGeom prst="ellipse">
            <a:avLst/>
          </a:prstGeom>
          <a:solidFill>
            <a:srgbClr val="161D2C"/>
          </a:solidFill>
          <a:ln w="25400">
            <a:solidFill>
              <a:srgbClr val="00E8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40680" y="132588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E8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257800" y="2487168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57800" y="2798064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0-100 Drift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92240" y="1851660"/>
            <a:ext cx="548640" cy="0"/>
          </a:xfrm>
          <a:prstGeom prst="line">
            <a:avLst/>
          </a:prstGeom>
          <a:noFill/>
          <a:ln w="22860">
            <a:solidFill>
              <a:srgbClr val="00E87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40880" y="1325880"/>
            <a:ext cx="1051560" cy="1051560"/>
          </a:xfrm>
          <a:prstGeom prst="ellipse">
            <a:avLst/>
          </a:prstGeom>
          <a:solidFill>
            <a:srgbClr val="161D2C"/>
          </a:solidFill>
          <a:ln w="25400">
            <a:solidFill>
              <a:srgbClr val="00E8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0" y="132588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E8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858000" y="2487168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58000" y="2798064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D3.js Git Tree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291840"/>
            <a:ext cx="8412480" cy="1572768"/>
          </a:xfrm>
          <a:prstGeom prst="rect">
            <a:avLst/>
          </a:prstGeom>
          <a:solidFill>
            <a:srgbClr val="161D2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4015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hood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4360" y="3803904"/>
            <a:ext cx="128016" cy="128016"/>
          </a:xfrm>
          <a:prstGeom prst="ellipse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5528" y="376732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Input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95528" y="3959352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Speechmatics WebSocket real-time transcription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94360" y="4151376"/>
            <a:ext cx="128016" cy="128016"/>
          </a:xfrm>
          <a:prstGeom prst="ellipse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5528" y="411480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Extraction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95528" y="4306824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Featherless Qwen2.5-7B — structured facts only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94360" y="4498848"/>
            <a:ext cx="128016" cy="128016"/>
          </a:xfrm>
          <a:prstGeom prst="ellipse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5528" y="446227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 Scoring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95528" y="4654296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Python math — zero LLM tokens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00600" y="3803904"/>
            <a:ext cx="128016" cy="128016"/>
          </a:xfrm>
          <a:prstGeom prst="ellipse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01768" y="376732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001768" y="3959352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Flash — fires only for non-English text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800600" y="4151376"/>
            <a:ext cx="128016" cy="128016"/>
          </a:xfrm>
          <a:prstGeom prst="ellipse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01768" y="411480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System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001768" y="4306824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fires automatically when drift is 70 or higher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00E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7-Agent LangGraph Pipeline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1440" y="1024128"/>
            <a:ext cx="1463040" cy="530352"/>
          </a:xfrm>
          <a:prstGeom prst="rect">
            <a:avLst/>
          </a:prstGeom>
          <a:solidFill>
            <a:srgbClr val="001A0D"/>
          </a:solidFill>
          <a:ln w="25400">
            <a:solidFill>
              <a:srgbClr val="00E8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" y="1024128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INPUT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E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 /  Voice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2960" y="1554480"/>
            <a:ext cx="0" cy="347472"/>
          </a:xfrm>
          <a:prstGeom prst="line">
            <a:avLst/>
          </a:prstGeom>
          <a:noFill/>
          <a:ln w="19050">
            <a:solidFill>
              <a:srgbClr val="00E8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" y="1901952"/>
            <a:ext cx="1463040" cy="475488"/>
          </a:xfrm>
          <a:prstGeom prst="rect">
            <a:avLst/>
          </a:prstGeom>
          <a:solidFill>
            <a:srgbClr val="161D2C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" y="190195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554480" y="2139696"/>
            <a:ext cx="384048" cy="0"/>
          </a:xfrm>
          <a:prstGeom prst="line">
            <a:avLst/>
          </a:prstGeom>
          <a:noFill/>
          <a:ln w="19050">
            <a:solidFill>
              <a:srgbClr val="00E8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38528" y="914400"/>
            <a:ext cx="5212080" cy="3913632"/>
          </a:xfrm>
          <a:prstGeom prst="rect">
            <a:avLst/>
          </a:prstGeom>
          <a:solidFill>
            <a:srgbClr val="060D18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29968" y="96926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StateGraph Orchestrator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084832" y="1298448"/>
            <a:ext cx="2395728" cy="658368"/>
          </a:xfrm>
          <a:prstGeom prst="rect">
            <a:avLst/>
          </a:prstGeom>
          <a:solidFill>
            <a:srgbClr val="161D2C"/>
          </a:solidFill>
          <a:ln w="19050">
            <a:solidFill>
              <a:srgbClr val="00E8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84832" y="1298448"/>
            <a:ext cx="54864" cy="658368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03704" y="134416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Agent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203704" y="1636776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GDELT + NewsAPI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084832" y="2103120"/>
            <a:ext cx="2395728" cy="658368"/>
          </a:xfrm>
          <a:prstGeom prst="rect">
            <a:avLst/>
          </a:prstGeom>
          <a:solidFill>
            <a:srgbClr val="161D2C"/>
          </a:solidFill>
          <a:ln w="19050">
            <a:solidFill>
              <a:srgbClr val="00E87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84832" y="2103120"/>
            <a:ext cx="54864" cy="658368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03704" y="214884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Crawler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203704" y="2441448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RSS Feeds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084832" y="2907792"/>
            <a:ext cx="2395728" cy="658368"/>
          </a:xfrm>
          <a:prstGeom prst="rect">
            <a:avLst/>
          </a:prstGeom>
          <a:solidFill>
            <a:srgbClr val="161D2C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84832" y="2907792"/>
            <a:ext cx="54864" cy="6583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03704" y="295351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Translator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203704" y="324612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Flash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084832" y="3712464"/>
            <a:ext cx="2395728" cy="658368"/>
          </a:xfrm>
          <a:prstGeom prst="rect">
            <a:avLst/>
          </a:prstGeom>
          <a:solidFill>
            <a:srgbClr val="161D2C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84832" y="3712464"/>
            <a:ext cx="54864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03704" y="3758184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Extractor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203704" y="4050792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Featherless / Qwen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18304" y="1298448"/>
            <a:ext cx="2395728" cy="658368"/>
          </a:xfrm>
          <a:prstGeom prst="rect">
            <a:avLst/>
          </a:prstGeom>
          <a:solidFill>
            <a:srgbClr val="161D2C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18304" y="1298448"/>
            <a:ext cx="54864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37176" y="134416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 Scorer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37176" y="1636776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Python Math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18304" y="2103120"/>
            <a:ext cx="2395728" cy="658368"/>
          </a:xfrm>
          <a:prstGeom prst="rect">
            <a:avLst/>
          </a:prstGeom>
          <a:solidFill>
            <a:srgbClr val="161D2C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18304" y="2103120"/>
            <a:ext cx="54864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37176" y="214884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 Builder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37176" y="2441448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Mapping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18304" y="2907792"/>
            <a:ext cx="2395728" cy="658368"/>
          </a:xfrm>
          <a:prstGeom prst="rect">
            <a:avLst/>
          </a:prstGeom>
          <a:solidFill>
            <a:srgbClr val="161D2C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18304" y="2907792"/>
            <a:ext cx="54864" cy="6583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37176" y="295351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Agent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837176" y="324612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&gt;= 70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480560" y="1993392"/>
            <a:ext cx="237744" cy="0"/>
          </a:xfrm>
          <a:prstGeom prst="line">
            <a:avLst/>
          </a:prstGeom>
          <a:noFill/>
          <a:ln w="12700">
            <a:solidFill>
              <a:srgbClr val="00E87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480560" y="2798064"/>
            <a:ext cx="237744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150608" y="2139696"/>
            <a:ext cx="292608" cy="0"/>
          </a:xfrm>
          <a:prstGeom prst="line">
            <a:avLst/>
          </a:prstGeom>
          <a:noFill/>
          <a:ln w="19050">
            <a:solidFill>
              <a:srgbClr val="00E87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43216" y="1901952"/>
            <a:ext cx="1499616" cy="475488"/>
          </a:xfrm>
          <a:prstGeom prst="rect">
            <a:avLst/>
          </a:prstGeom>
          <a:solidFill>
            <a:srgbClr val="161D2C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3216" y="1901952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150608" y="2816352"/>
            <a:ext cx="292608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443216" y="2578608"/>
            <a:ext cx="1499616" cy="475488"/>
          </a:xfrm>
          <a:prstGeom prst="rect">
            <a:avLst/>
          </a:prstGeom>
          <a:solidFill>
            <a:srgbClr val="161D2C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43216" y="2578608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+ D3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097280" y="4800600"/>
            <a:ext cx="182880" cy="155448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335024" y="478231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Pipeline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615184" y="4800600"/>
            <a:ext cx="182880" cy="1554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852928" y="478231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Translation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133088" y="4800600"/>
            <a:ext cx="182880" cy="1554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370832" y="478231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&amp; Scoring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650992" y="4800600"/>
            <a:ext cx="182880" cy="1554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888736" y="478231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/ Frontend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168896" y="4800600"/>
            <a:ext cx="182880" cy="1554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406640" y="478231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00E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&amp; PARTNERS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with Best-in-Class APIs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56032" y="1188720"/>
            <a:ext cx="4114800" cy="1691640"/>
          </a:xfrm>
          <a:prstGeom prst="rect">
            <a:avLst/>
          </a:prstGeom>
          <a:solidFill>
            <a:srgbClr val="161D2C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188720"/>
            <a:ext cx="41148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" y="12801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Vultr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999232" y="1307592"/>
            <a:ext cx="1188720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99232" y="13075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$5,000 Prize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20624" y="1664208"/>
            <a:ext cx="379476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backend on Vultr VM — crawler, LangGraph agents, PostgreSQL DB, and alert engine. Production-grade infrastructure.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36592" y="1188720"/>
            <a:ext cx="4114800" cy="1691640"/>
          </a:xfrm>
          <a:prstGeom prst="rect">
            <a:avLst/>
          </a:prstGeom>
          <a:solidFill>
            <a:srgbClr val="161D2C"/>
          </a:solidFill>
          <a:ln w="19050">
            <a:solidFill>
              <a:srgbClr val="428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36592" y="1188720"/>
            <a:ext cx="4114800" cy="54864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01184" y="12801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Google Gemini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479792" y="1307592"/>
            <a:ext cx="1188720" cy="256032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79792" y="13075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$5,000 Prize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901184" y="1664208"/>
            <a:ext cx="379476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Flash for multilingual translation (fires only for non-English articles). Gemini 2.5 Pro for on-demand geopolitical forecasts.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6032" y="3108960"/>
            <a:ext cx="4114800" cy="1691640"/>
          </a:xfrm>
          <a:prstGeom prst="rect">
            <a:avLst/>
          </a:prstGeom>
          <a:solidFill>
            <a:srgbClr val="161D2C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3108960"/>
            <a:ext cx="41148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" y="32004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Featherless AI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999232" y="3227832"/>
            <a:ext cx="118872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99232" y="32278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Credits + Claw Pro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20624" y="3584448"/>
            <a:ext cx="379476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Qwen2.5-7B via OpenAI-compatible API for DNA extraction — structured narrative facts at scale, with 3-model fallback chain.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36592" y="3108960"/>
            <a:ext cx="4114800" cy="1691640"/>
          </a:xfrm>
          <a:prstGeom prst="rect">
            <a:avLst/>
          </a:prstGeom>
          <a:solidFill>
            <a:srgbClr val="161D2C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36592" y="3108960"/>
            <a:ext cx="41148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01184" y="32004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Speechmatics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479792" y="3227832"/>
            <a:ext cx="1188720" cy="2560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79792" y="32278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$1K Cash + Credits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901184" y="3584448"/>
            <a:ext cx="379476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WebSocket voice transcription. Users speak topics instead of typing — short-lived JWT keeps the API key server-side.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00E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TRACKS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StoryTrace Wins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" y="1261872"/>
            <a:ext cx="4114800" cy="1719072"/>
          </a:xfrm>
          <a:prstGeom prst="rect">
            <a:avLst/>
          </a:prstGeom>
          <a:solidFill>
            <a:srgbClr val="001A0D"/>
          </a:solidFill>
          <a:ln w="25400">
            <a:solidFill>
              <a:srgbClr val="00E8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93192" y="1389888"/>
            <a:ext cx="566928" cy="566928"/>
          </a:xfrm>
          <a:prstGeom prst="ellipse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13898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78992" y="1353312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Agentic Workflows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78992" y="1737360"/>
            <a:ext cx="914400" cy="201168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17373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TRACK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38912" y="2039112"/>
            <a:ext cx="3749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autonomous agents, each calling external tools and managing multi-step tasks over time — from input to alert, zero human intervention.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36592" y="1261872"/>
            <a:ext cx="4114800" cy="1719072"/>
          </a:xfrm>
          <a:prstGeom prst="rect">
            <a:avLst/>
          </a:prstGeom>
          <a:solidFill>
            <a:srgbClr val="001A0D"/>
          </a:solidFill>
          <a:ln w="25400">
            <a:solidFill>
              <a:srgbClr val="00E8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73752" y="1389888"/>
            <a:ext cx="566928" cy="5669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3898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59552" y="1353312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Collaborative Systems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559552" y="1737360"/>
            <a:ext cx="914400" cy="201168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59552" y="17373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TRACK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919472" y="2039112"/>
            <a:ext cx="3749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specialists coordinating via structured JSON state. No single LLM could achieve what the pipeline delivers together.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6032" y="3136392"/>
            <a:ext cx="4114800" cy="1719072"/>
          </a:xfrm>
          <a:prstGeom prst="rect">
            <a:avLst/>
          </a:prstGeom>
          <a:solidFill>
            <a:srgbClr val="161D2C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93192" y="3264408"/>
            <a:ext cx="566928" cy="5669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" y="32644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EU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78992" y="3227832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Enterprise Utility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078992" y="3611880"/>
            <a:ext cx="1097280" cy="20116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36118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B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TRACK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38912" y="3913632"/>
            <a:ext cx="3749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paying customers: newsrooms, intelligence analysts, enterprise risk departments who need narrative intelligence at scale.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36592" y="3136392"/>
            <a:ext cx="4114800" cy="1719072"/>
          </a:xfrm>
          <a:prstGeom prst="rect">
            <a:avLst/>
          </a:prstGeom>
          <a:solidFill>
            <a:srgbClr val="161D2C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73752" y="3264408"/>
            <a:ext cx="566928" cy="5669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3752" y="32644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59552" y="3227832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Intelligent Reasoning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559552" y="3611880"/>
            <a:ext cx="1097280" cy="20116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59552" y="36118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B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TRACK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919472" y="3913632"/>
            <a:ext cx="3749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scoring, contagion chain detection, and multi-model fallback — all without human intervention or manual configuration.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00E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Who StoryTrace Serves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261872"/>
            <a:ext cx="5029200" cy="777240"/>
          </a:xfrm>
          <a:prstGeom prst="rect">
            <a:avLst/>
          </a:prstGeom>
          <a:solidFill>
            <a:srgbClr val="161D2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426464"/>
            <a:ext cx="457200" cy="457200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426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3075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Newsrooms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591056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how their stories are mutated or misrepresented by competing outlets in real time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176272"/>
            <a:ext cx="5029200" cy="777240"/>
          </a:xfrm>
          <a:prstGeom prst="rect">
            <a:avLst/>
          </a:prstGeom>
          <a:solidFill>
            <a:srgbClr val="161D2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2340864"/>
            <a:ext cx="457200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340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22219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Researchers &amp; Academics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505456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media bias with quantified, reproducible drift data across outlets and countries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090672"/>
            <a:ext cx="5029200" cy="777240"/>
          </a:xfrm>
          <a:prstGeom prst="rect">
            <a:avLst/>
          </a:prstGeom>
          <a:solidFill>
            <a:srgbClr val="161D2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3255264"/>
            <a:ext cx="45720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3255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31363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Risk Teams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3419856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how geopolitical events are framed differently across regions and media ecosystems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4005072"/>
            <a:ext cx="5029200" cy="777240"/>
          </a:xfrm>
          <a:prstGeom prst="rect">
            <a:avLst/>
          </a:prstGeom>
          <a:solidFill>
            <a:srgbClr val="161D2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" y="4169664"/>
            <a:ext cx="457200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4169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0507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 Analysts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4334256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coordinated narrative campaigns and trace their origin and geographic spread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532120" y="1261872"/>
            <a:ext cx="3383280" cy="3547872"/>
          </a:xfrm>
          <a:prstGeom prst="rect">
            <a:avLst/>
          </a:prstGeom>
          <a:solidFill>
            <a:srgbClr val="001A0D"/>
          </a:solidFill>
          <a:ln w="19050">
            <a:solidFill>
              <a:srgbClr val="00E8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23560" y="137160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Gap We Fill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760720" y="1737360"/>
            <a:ext cx="292608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50992" y="1828800"/>
            <a:ext cx="3154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temporal, cross-outlet, or cross-country tracking system exists."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650992" y="262432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Narrative Classification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arXiv:2512.03582  |  Dec 2025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760720" y="3154680"/>
            <a:ext cx="292608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50992" y="3246120"/>
            <a:ext cx="3154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"Analyzes one article at a time with no memory of how a story evolves."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650992" y="404164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Bias Detector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arXiv:2502.06009  |  Feb 2025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D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1A0D"/>
          </a:solidFill>
          <a:ln w="12700">
            <a:solidFill>
              <a:srgbClr val="001A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-731520"/>
            <a:ext cx="3200400" cy="3200400"/>
          </a:xfrm>
          <a:prstGeom prst="ellipse">
            <a:avLst/>
          </a:prstGeom>
          <a:solidFill>
            <a:srgbClr val="00E87A">
              <a:alpha val="6000"/>
            </a:srgbClr>
          </a:solidFill>
          <a:ln w="12700">
            <a:solidFill>
              <a:srgbClr val="00E87A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926080"/>
            <a:ext cx="3200400" cy="3200400"/>
          </a:xfrm>
          <a:prstGeom prst="ellipse">
            <a:avLst/>
          </a:prstGeom>
          <a:solidFill>
            <a:srgbClr val="00E87A">
              <a:alpha val="6000"/>
            </a:srgbClr>
          </a:solidFill>
          <a:ln w="12700">
            <a:solidFill>
              <a:srgbClr val="00E87A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96012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900" kern="0" dirty="0">
                <a:solidFill>
                  <a:srgbClr val="00E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38988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See It In Action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URL or speak a topic — watch the mutation chain build in real time.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907792"/>
            <a:ext cx="1810512" cy="365760"/>
          </a:xfrm>
          <a:prstGeom prst="rect">
            <a:avLst/>
          </a:prstGeom>
          <a:solidFill>
            <a:srgbClr val="003319"/>
          </a:solidFill>
          <a:ln w="19050">
            <a:solidFill>
              <a:srgbClr val="00E8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907792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E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Outlets Tracked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633472" y="2907792"/>
            <a:ext cx="1810512" cy="365760"/>
          </a:xfrm>
          <a:prstGeom prst="rect">
            <a:avLst/>
          </a:prstGeom>
          <a:solidFill>
            <a:srgbClr val="003319"/>
          </a:solidFill>
          <a:ln w="19050">
            <a:solidFill>
              <a:srgbClr val="00E8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33472" y="2907792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E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Drift  45.7 / 100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26864" y="2907792"/>
            <a:ext cx="1810512" cy="365760"/>
          </a:xfrm>
          <a:prstGeom prst="rect">
            <a:avLst/>
          </a:prstGeom>
          <a:solidFill>
            <a:srgbClr val="003319"/>
          </a:solidFill>
          <a:ln w="19050">
            <a:solidFill>
              <a:srgbClr val="00E8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26864" y="2907792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E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Countries Mapped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620256" y="2907792"/>
            <a:ext cx="1810512" cy="365760"/>
          </a:xfrm>
          <a:prstGeom prst="rect">
            <a:avLst/>
          </a:prstGeom>
          <a:solidFill>
            <a:srgbClr val="003319"/>
          </a:solidFill>
          <a:ln w="19050">
            <a:solidFill>
              <a:srgbClr val="00E8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0256" y="2907792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E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Conf.  98.4%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00D06"/>
          </a:solidFill>
          <a:ln w="12700">
            <a:solidFill>
              <a:srgbClr val="000D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0" y="47731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StoryTrace  |  Git for News  |  Hackathon 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StoryTrace — Git for News</dc:title>
  <dc:subject>PptxGenJS Presentation</dc:subject>
  <dc:creator>StoryTrace Team</dc:creator>
  <cp:lastModifiedBy>StoryTrace Team</cp:lastModifiedBy>
  <cp:revision>1</cp:revision>
  <dcterms:created xsi:type="dcterms:W3CDTF">2026-05-19T13:36:24Z</dcterms:created>
  <dcterms:modified xsi:type="dcterms:W3CDTF">2026-05-19T13:36:24Z</dcterms:modified>
</cp:coreProperties>
</file>